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00a548acda42ef" /><Relationship Type="http://schemas.openxmlformats.org/officeDocument/2006/relationships/extended-properties" Target="/docProps/app.xml" Id="R7cc3b2666df4484b" /><Relationship Type="http://schemas.openxmlformats.org/officeDocument/2006/relationships/officeDocument" Target="/ppt/presentation.xml" Id="R2a2a574f49f041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f2be2c24e24c28"/>
  </p:sldMasterIdLst>
  <p:notesMasterIdLst>
    <p:notesMasterId xmlns:r="http://schemas.openxmlformats.org/officeDocument/2006/relationships" r:id="R2f453614d2554158"/>
  </p:notesMasterIdLst>
  <p:sldIdLst>
    <p:sldId xmlns:r="http://schemas.openxmlformats.org/officeDocument/2006/relationships" id="256" r:id="R938193f866bb4ac2"/>
    <p:sldId xmlns:r="http://schemas.openxmlformats.org/officeDocument/2006/relationships" id="257" r:id="R356137d03a3c47cb"/>
    <p:sldId xmlns:r="http://schemas.openxmlformats.org/officeDocument/2006/relationships" id="258" r:id="R7635627c1e3942ef"/>
    <p:sldId xmlns:r="http://schemas.openxmlformats.org/officeDocument/2006/relationships" id="259" r:id="R43fd044051d340dc"/>
    <p:sldId xmlns:r="http://schemas.openxmlformats.org/officeDocument/2006/relationships" id="260" r:id="Raaae0de5455944b4"/>
    <p:sldId xmlns:r="http://schemas.openxmlformats.org/officeDocument/2006/relationships" id="261" r:id="Rfcacece510a044f9"/>
    <p:sldId xmlns:r="http://schemas.openxmlformats.org/officeDocument/2006/relationships" id="262" r:id="Rbeabb2f6e6934992"/>
    <p:sldId xmlns:r="http://schemas.openxmlformats.org/officeDocument/2006/relationships" id="263" r:id="R8f279ad0ab784f10"/>
    <p:sldId xmlns:r="http://schemas.openxmlformats.org/officeDocument/2006/relationships" id="264" r:id="Rde9edd5dc941449d"/>
    <p:sldId xmlns:r="http://schemas.openxmlformats.org/officeDocument/2006/relationships" id="265" r:id="R4bde5dc879574c8e"/>
    <p:sldId xmlns:r="http://schemas.openxmlformats.org/officeDocument/2006/relationships" id="266" r:id="R969a7fddbdb841a2"/>
    <p:sldId xmlns:r="http://schemas.openxmlformats.org/officeDocument/2006/relationships" id="267" r:id="Rb85b999ab2ab4e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35ae12e287456c" /><Relationship Type="http://schemas.openxmlformats.org/officeDocument/2006/relationships/slideMaster" Target="/ppt/slideMasters/slideMaster1.xml" Id="Rb4f2be2c24e24c28" /><Relationship Type="http://schemas.openxmlformats.org/officeDocument/2006/relationships/notesMaster" Target="/ppt/notesMasters/notesMaster1.xml" Id="R2f453614d2554158" /><Relationship Type="http://schemas.openxmlformats.org/officeDocument/2006/relationships/presProps" Target="/ppt/presProps.xml" Id="Rc83d547a59914171" /><Relationship Type="http://schemas.openxmlformats.org/officeDocument/2006/relationships/tableStyles" Target="/ppt/tableStyles.xml" Id="Rcff5e0e7c6194d83" /><Relationship Type="http://schemas.openxmlformats.org/officeDocument/2006/relationships/slide" Target="/ppt/slides/slide1.xml" Id="R938193f866bb4ac2" /><Relationship Type="http://schemas.openxmlformats.org/officeDocument/2006/relationships/slide" Target="/ppt/slides/slide2.xml" Id="R356137d03a3c47cb" /><Relationship Type="http://schemas.openxmlformats.org/officeDocument/2006/relationships/slide" Target="/ppt/slides/slide3.xml" Id="R7635627c1e3942ef" /><Relationship Type="http://schemas.openxmlformats.org/officeDocument/2006/relationships/slide" Target="/ppt/slides/slide4.xml" Id="R43fd044051d340dc" /><Relationship Type="http://schemas.openxmlformats.org/officeDocument/2006/relationships/slide" Target="/ppt/slides/slide5.xml" Id="Raaae0de5455944b4" /><Relationship Type="http://schemas.openxmlformats.org/officeDocument/2006/relationships/slide" Target="/ppt/slides/slide6.xml" Id="Rfcacece510a044f9" /><Relationship Type="http://schemas.openxmlformats.org/officeDocument/2006/relationships/slide" Target="/ppt/slides/slide7.xml" Id="Rbeabb2f6e6934992" /><Relationship Type="http://schemas.openxmlformats.org/officeDocument/2006/relationships/slide" Target="/ppt/slides/slide8.xml" Id="R8f279ad0ab784f10" /><Relationship Type="http://schemas.openxmlformats.org/officeDocument/2006/relationships/slide" Target="/ppt/slides/slide9.xml" Id="Rde9edd5dc941449d" /><Relationship Type="http://schemas.openxmlformats.org/officeDocument/2006/relationships/slide" Target="/ppt/slides/slide10.xml" Id="R4bde5dc879574c8e" /><Relationship Type="http://schemas.openxmlformats.org/officeDocument/2006/relationships/slide" Target="/ppt/slides/slide11.xml" Id="R969a7fddbdb841a2" /><Relationship Type="http://schemas.openxmlformats.org/officeDocument/2006/relationships/slide" Target="/ppt/slides/slide12.xml" Id="Rb85b999ab2ab4e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900bb29cc149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ba0bc52de34c28" /><Relationship Type="http://schemas.openxmlformats.org/officeDocument/2006/relationships/notesMaster" Target="/ppt/notesMasters/notesMaster1.xml" Id="Rb9358168923b4c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329e64d328421a" /><Relationship Type="http://schemas.openxmlformats.org/officeDocument/2006/relationships/notesMaster" Target="/ppt/notesMasters/notesMaster1.xml" Id="Ra958f406ada94b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280ccd27734240" /><Relationship Type="http://schemas.openxmlformats.org/officeDocument/2006/relationships/notesMaster" Target="/ppt/notesMasters/notesMaster1.xml" Id="R8added806cf542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2df119191a4d07" /><Relationship Type="http://schemas.openxmlformats.org/officeDocument/2006/relationships/notesMaster" Target="/ppt/notesMasters/notesMaster1.xml" Id="R0005cdac7c634e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c321b8ca8b4784" /><Relationship Type="http://schemas.openxmlformats.org/officeDocument/2006/relationships/notesMaster" Target="/ppt/notesMasters/notesMaster1.xml" Id="Rda103825f7624e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39f19fc380431a" /><Relationship Type="http://schemas.openxmlformats.org/officeDocument/2006/relationships/notesMaster" Target="/ppt/notesMasters/notesMaster1.xml" Id="R7fd98b70d0b54d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46c1a72edd4ded" /><Relationship Type="http://schemas.openxmlformats.org/officeDocument/2006/relationships/notesMaster" Target="/ppt/notesMasters/notesMaster1.xml" Id="R81447b519c5842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9fa7b6f38641bc" /><Relationship Type="http://schemas.openxmlformats.org/officeDocument/2006/relationships/notesMaster" Target="/ppt/notesMasters/notesMaster1.xml" Id="R8b9d9974b8ec42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d2e3ae707a4bc3" /><Relationship Type="http://schemas.openxmlformats.org/officeDocument/2006/relationships/notesMaster" Target="/ppt/notesMasters/notesMaster1.xml" Id="R010500a2906c41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0db074c09343d6" /><Relationship Type="http://schemas.openxmlformats.org/officeDocument/2006/relationships/notesMaster" Target="/ppt/notesMasters/notesMaster1.xml" Id="R6b072098317041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98d94657714cd6" /><Relationship Type="http://schemas.openxmlformats.org/officeDocument/2006/relationships/notesMaster" Target="/ppt/notesMasters/notesMaster1.xml" Id="R955110bf41b145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eae70eaeeb4048" /><Relationship Type="http://schemas.openxmlformats.org/officeDocument/2006/relationships/notesMaster" Target="/ppt/notesMasters/notesMaster1.xml" Id="R7b3daf167f1c4c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middleware/usb/usb_device.c</a:t>
            </a:r>
          </a:p>
          <a:p xmlns:a="http://schemas.openxmlformats.org/drawingml/2006/main">
            <a:r>
              <a:t>- drivers/i2c.c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protocol/usb_protocol.h</a:t>
            </a:r>
          </a:p>
          <a:p xmlns:a="http://schemas.openxmlformats.org/drawingml/2006/main">
            <a:r>
              <a:t>- middleware/adapter/adapter_service.h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drivers/i2c.c</a:t>
            </a:r>
          </a:p>
          <a:p xmlns:a="http://schemas.openxmlformats.org/drawingml/2006/main">
            <a:r>
              <a:t>- middleware/usb/usb_device.c</a:t>
            </a:r>
          </a:p>
          <a:p xmlns:a="http://schemas.openxmlformats.org/drawingml/2006/main">
            <a:r>
              <a:t>- middleware/usb/usb_descriptors.c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host/usb_client/main.c</a:t>
            </a:r>
          </a:p>
          <a:p xmlns:a="http://schemas.openxmlformats.org/drawingml/2006/main">
            <a:r>
              <a:t>- middleware/usb/usb_protocol.c</a:t>
            </a:r>
          </a:p>
          <a:p xmlns:a="http://schemas.openxmlformats.org/drawingml/2006/main">
            <a:r>
              <a:t>- middleware/adapter/adapter_service.c</a:t>
            </a:r>
          </a:p>
          <a:p xmlns:a="http://schemas.openxmlformats.org/drawingml/2006/main">
            <a:r>
              <a:t>- drivers/i2c.c</a:t>
            </a:r>
          </a:p>
          <a:p xmlns:a="http://schemas.openxmlformats.org/drawingml/2006/main">
            <a:r>
              <a:t>- middleware/mctp/mctp_smbus.c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`.so` requested for this presentation was not present in the inspected folder. This slide separates verified current state from the proposed packaging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host/usb_client/Makefile</a:t>
            </a:r>
          </a:p>
          <a:p xmlns:a="http://schemas.openxmlformats.org/drawingml/2006/main">
            <a:r>
              <a:t>- host/usb_client/main.c</a:t>
            </a:r>
          </a:p>
          <a:p xmlns:a="http://schemas.openxmlformats.org/drawingml/2006/main">
            <a:r>
              <a:t>- host/usb_client/adapter_discovery.c</a:t>
            </a:r>
          </a:p>
          <a:p xmlns:a="http://schemas.openxmlformats.org/drawingml/2006/main">
            <a:r>
              <a:t>- host/usb_client/smbus-usb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packaging boundary based on the existing CLI implementation; it is not yet present in the repository.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protocol/usb_protocol.h</a:t>
            </a:r>
          </a:p>
          <a:p xmlns:a="http://schemas.openxmlformats.org/drawingml/2006/main">
            <a:r>
              <a:t>- host/usb_client/main.c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protocol/usb_protocol.h</a:t>
            </a:r>
          </a:p>
          <a:p xmlns:a="http://schemas.openxmlformats.org/drawingml/2006/main">
            <a:r>
              <a:t>- middleware/adapter/adapter_service.h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protocol/usb_protocol.h</a:t>
            </a:r>
          </a:p>
          <a:p xmlns:a="http://schemas.openxmlformats.org/drawingml/2006/main">
            <a:r>
              <a:t>- middleware/usb/usb_protocol.c</a:t>
            </a:r>
          </a:p>
          <a:p xmlns:a="http://schemas.openxmlformats.org/drawingml/2006/main">
            <a:r>
              <a:t>- host/usb_client/main.c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middleware/adapter/adapter_service.c</a:t>
            </a:r>
          </a:p>
          <a:p xmlns:a="http://schemas.openxmlformats.org/drawingml/2006/main">
            <a:r>
              <a:t>- middleware/mctp/mctp.c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host/usb_client/main.c</a:t>
            </a:r>
          </a:p>
          <a:p xmlns:a="http://schemas.openxmlformats.org/drawingml/2006/main">
            <a:r>
              <a:t>- host/usb_client/Makefile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C ABI. The repository does not currently supply a shared-library header or binary to verify symbol names.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host/usb_client/main.c</a:t>
            </a:r>
          </a:p>
          <a:p xmlns:a="http://schemas.openxmlformats.org/drawingml/2006/main">
            <a:r>
              <a:t>- host/usb_client/adapter_discovery.h</a:t>
            </a:r>
          </a:p>
          <a:p xmlns:a="http://schemas.openxmlformats.org/drawingml/2006/main">
            <a:r>
              <a:t>- protocol/usb_protocol.h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host/usb_client/Makefile</a:t>
            </a:r>
          </a:p>
          <a:p xmlns:a="http://schemas.openxmlformats.org/drawingml/2006/main">
            <a:r>
              <a:t>- middleware/usb/usb_descriptors.c</a:t>
            </a:r>
          </a:p>
          <a:p xmlns:a="http://schemas.openxmlformats.org/drawingml/2006/main">
            <a:r>
              <a:t>- drivers/i2c.c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7880f027647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705f655e6443af" /><Relationship Type="http://schemas.openxmlformats.org/officeDocument/2006/relationships/slideLayout" Target="/ppt/slideLayouts/slideLayout1.xml" Id="R2706fd5bbc184a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06fd5bbc184a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eb715b7ed43a2" /><Relationship Type="http://schemas.openxmlformats.org/officeDocument/2006/relationships/notesSlide" Target="/ppt/notesSlides/notesSlide1.xml" Id="Rdfcd5439605148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4d5b842734caa" /><Relationship Type="http://schemas.openxmlformats.org/officeDocument/2006/relationships/notesSlide" Target="/ppt/notesSlides/notesSlide2.xml" Id="R96c64c5e30b144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57b539e6f49c0" /><Relationship Type="http://schemas.openxmlformats.org/officeDocument/2006/relationships/notesSlide" Target="/ppt/notesSlides/notesSlide3.xml" Id="R7cc82fa25e8a4f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c167c87fb449f" /><Relationship Type="http://schemas.openxmlformats.org/officeDocument/2006/relationships/notesSlide" Target="/ppt/notesSlides/notesSlide4.xml" Id="R9eb961469f13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62a29f8084266" /><Relationship Type="http://schemas.openxmlformats.org/officeDocument/2006/relationships/notesSlide" Target="/ppt/notesSlides/notesSlide5.xml" Id="Rfbadf364090f45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b2c34754f4d45" /><Relationship Type="http://schemas.openxmlformats.org/officeDocument/2006/relationships/notesSlide" Target="/ppt/notesSlides/notesSlide6.xml" Id="R9d1d37295c3043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19abdd48a4a3c" /><Relationship Type="http://schemas.openxmlformats.org/officeDocument/2006/relationships/notesSlide" Target="/ppt/notesSlides/notesSlide7.xml" Id="R0775d46e5d1641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0ee20f0fc4390" /><Relationship Type="http://schemas.openxmlformats.org/officeDocument/2006/relationships/notesSlide" Target="/ppt/notesSlides/notesSlide8.xml" Id="R4a54b89bc6d04d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2f8a8096f4f4c" /><Relationship Type="http://schemas.openxmlformats.org/officeDocument/2006/relationships/notesSlide" Target="/ppt/notesSlides/notesSlide9.xml" Id="R574f4e9f143e48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bae33372849ea" /><Relationship Type="http://schemas.openxmlformats.org/officeDocument/2006/relationships/notesSlide" Target="/ppt/notesSlides/notesSlide10.xml" Id="Rf8ecc8b00b2c48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6622b46234a5a" /><Relationship Type="http://schemas.openxmlformats.org/officeDocument/2006/relationships/notesSlide" Target="/ppt/notesSlides/notesSlide11.xml" Id="R5b5c307698414b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ee2db920840fb" /><Relationship Type="http://schemas.openxmlformats.org/officeDocument/2006/relationships/notesSlide" Target="/ppt/notesSlides/notesSlide12.xml" Id="R52ad7a0890a84c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C42A1-40A9-4014-9805-8939009C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ENGINEERING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6B1DF-3B35-4BAA-BBA9-275ACBD1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334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STM32F411</a:t>
            </a:r>
          </a:p>
          <a:p xmlns:a="http://schemas.openxmlformats.org/drawingml/2006/main">
            <a:pPr algn="l">
              <a:defRPr sz="4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SMBus / I2C</a:t>
            </a:r>
          </a:p>
          <a:p xmlns:a="http://schemas.openxmlformats.org/drawingml/2006/main">
            <a:pPr algn="l">
              <a:defRPr sz="4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USB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80ED3-62A1-4FED-B4E8-86A715FC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An open firmware and host stack for controller, addressed-slave, SMBus, and MCTP transactions over USB.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34FB8-A292-452B-AEDE-DE69935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Project architecture • API surface • integration examples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CC731-9C3D-4FC3-82A6-D7D5AAFD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90487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2535E-D8FB-4EFC-BB12-38952ED9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904875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F8D5D-F044-4EC4-BC3D-56A3849F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123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79852-CA71-4351-975E-EF069EFA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1428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47"/>
          </a:solidFill>
          <a:ln xmlns:a="http://schemas.openxmlformats.org/drawingml/2006/main" w="0">
            <a:solidFill>
              <a:srgbClr val="0C26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CAA34-C41D-4B18-AE48-7B94578E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762125"/>
            <a:ext cx="13811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78CC0-AEBF-488A-8880-C63B0025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E73A8-8B6A-470C-9B1F-5FE77846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USB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655FA-9D91-4E0D-BB55-FFB06FCC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STM32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F411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DAEBB-5E5C-43E1-A0D4-4FADD3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TinyUSB + I2C1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8CA82-F5B6-456D-A682-E303DA6C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955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B022B-0144-4DFC-BF58-4AD8EC9E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95550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7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I2C / SMBus</a:t>
            </a:r>
          </a:p>
        </p:txBody>
      </p:sp>
    </p:spTree>
    <p:extLst>
      <p:ext uri="{BB962C8B-B14F-4D97-AF65-F5344CB8AC3E}">
        <p14:creationId xmlns:p14="http://schemas.microsoft.com/office/powerpoint/2010/main" val="18628461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12553-D5AB-478F-97D4-A87692B7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STM32F411 SMBUS / I2C USB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03077-369C-417D-BF1F-CAD30D37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One adapter supports three bus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AA87F-D53C-4D15-9781-033D8331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9A4B2-037E-4CF2-8E57-DFA42DD2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C0DEB-D3C3-4DD9-8C8A-959FD55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I2C 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F9D0B-2E7D-4990-BB4D-B1D70C86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Scan 7-bit addresses, select 100 or 400 kHz, write up to 507 bytes, and read up to 509 bytes with detailed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546305-708A-439B-8FA8-315C5C5F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rPr>
              <a:t>DEVELOPMENT &amp; DEBUG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BE664-75DB-4429-B0E2-AA80BC82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5974B-2091-43B7-9537-CBEC654C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241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Addressed slave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4CD2F-1E0C-4804-9754-4893B44F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Listen on a configurable address, poll asynchronously, and retrieve up to four queued external-master writes.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39553-0759-4187-B181-5BEC547C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53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rPr>
              <a:t>EMULATION &amp;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D9B9C-A0FA-40CA-9FAE-90BF6401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E9699-CF25-4ADC-BFD2-447A26FB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241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SMBus + MCTP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9DAE5-574F-4F4C-B258-99041538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Issue 1–32 byte raw/block operations or exchange 4–256 byte MCTP packets with PEC handled in firmware.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89E7F-967D-447A-8B3C-473CA8BB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rPr>
              <a:t>PLATFORM MANAGEMENT</a:t>
            </a:r>
          </a:p>
        </p:txBody>
      </p:sp>
    </p:spTree>
    <p:extLst>
      <p:ext uri="{BB962C8B-B14F-4D97-AF65-F5344CB8AC3E}">
        <p14:creationId xmlns:p14="http://schemas.microsoft.com/office/powerpoint/2010/main" val="745367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87ACB-A490-4D49-9374-C1557E87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STM32F411 SMBUS / I2C USB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D1AEE-4F89-4CA3-8727-2022B52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Hardware needs USB, three bus wires, and pull-ups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8BD6A-3FC9-4CA2-B4A9-D91EA7D2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F0448-CDCB-4BAF-A12B-2BA11053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11430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C55E9-9C9A-4519-9AA2-9AAA684F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9555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9D960-5B36-4CDB-A4C6-A6262D92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F8B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31F38-49EC-4F32-BD75-74451A07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F0B34-F732-423F-B7C9-B53EED7B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002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43A50-C195-4545-B6C9-AC0BBCC9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B9FE6-6C85-4222-9321-1E69395B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C9996-BA99-411C-9C32-BB92F757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HOST PC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B2AD9-7F28-4852-9321-1E74B0FE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libusb client</a:t>
            </a:r>
          </a:p>
          <a:p xmlns:a="http://schemas.openxmlformats.org/drawingml/2006/main">
            <a:pPr algn="ctr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CLI or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63542-51E2-4EDF-9A84-2BABEF90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62125"/>
            <a:ext cx="3048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47"/>
          </a:solidFill>
          <a:ln xmlns:a="http://schemas.openxmlformats.org/drawingml/2006/main" w="0">
            <a:solidFill>
              <a:srgbClr val="0C264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D9799-97A4-4EA3-BE22-FC16378F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717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STM32F411CEU6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Black Pill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352C9-CBE2-4A21-A19A-C357D3EC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43250"/>
            <a:ext cx="2095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2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DCBF4"/>
                </a:solidFill>
                <a:latin typeface="Menlo"/>
                <a:ea typeface="Menlo"/>
                <a:cs typeface="Menlo"/>
              </a:rPr>
              <a:t>PA11  USB D−</a:t>
            </a:r>
          </a:p>
          <a:p xmlns:a="http://schemas.openxmlformats.org/drawingml/2006/main">
            <a:pPr algn="l">
              <a:defRPr sz="1575" b="0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DCBF4"/>
                </a:solidFill>
                <a:latin typeface="Menlo"/>
                <a:ea typeface="Menlo"/>
                <a:cs typeface="Menlo"/>
              </a:rPr>
              <a:t>PA12  USB D+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DCBF4"/>
                </a:solidFill>
                <a:latin typeface="Menlo"/>
                <a:ea typeface="Menlo"/>
                <a:cs typeface="Menlo"/>
              </a:rPr>
              <a:t>PB8   I2C1 SCL</a:t>
            </a:r>
          </a:p>
          <a:p xmlns:a="http://schemas.openxmlformats.org/drawingml/2006/main">
            <a:pPr algn="l">
              <a:defRPr sz="1575" b="0">
                <a:solidFill>
                  <a:srgbClr val="6DCBF4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DCBF4"/>
                </a:solidFill>
                <a:latin typeface="Menlo"/>
                <a:ea typeface="Menlo"/>
                <a:cs typeface="Menlo"/>
              </a:rPr>
              <a:t>PB9   I2C1 SDA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499EA-4BE7-47DB-A7F9-89F28DD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2190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0186A-305E-4E42-9158-4977E30B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I2C / SMBus</a:t>
            </a:r>
          </a:p>
          <a:p xmlns:a="http://schemas.openxmlformats.org/drawingml/2006/main">
            <a:pPr algn="ctr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6C3A3-2546-4148-B96F-AF70269E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24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3.3 V logic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common ground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AEF76-39A5-4C51-92CF-65FA9358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65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USB FS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347B2-F2D4-43AC-B753-84714992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SCL / PB8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B70B5-483B-40DE-AAB5-0E64726C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rPr>
              <a:t>SDA / PB9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A4D74-254E-4B27-B8C8-235122FE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GND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E617BD-19EF-450F-A796-DB387AF8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≈4.7 kΩ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5A3B1-54AA-44E7-B850-8E2B4F8E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668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≈4.7 kΩ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B8206-5575-4060-9663-9DAD6DA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6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63C35"/>
                </a:solidFill>
                <a:latin typeface="Helvetica Neue"/>
                <a:ea typeface="Helvetica Neue"/>
                <a:cs typeface="Helvetica Neue"/>
              </a:rPr>
              <a:t>External pull-ups to 3.3 V are required on both SCL and SDA.</a:t>
            </a:r>
          </a:p>
        </p:txBody>
      </p:sp>
    </p:spTree>
    <p:extLst>
      <p:ext uri="{BB962C8B-B14F-4D97-AF65-F5344CB8AC3E}">
        <p14:creationId xmlns:p14="http://schemas.microsoft.com/office/powerpoint/2010/main" val="6933282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DCD9A-B54D-4525-B5DD-0364595F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STM32F411 SMBUS / I2C USB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9397D-0B64-4C06-A004-42292347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Four layers carry every USB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F1B28-00FE-4C5B-818C-1BBA09A4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58799-09C1-4ADE-AFCD-D57F1335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4800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4B7FD-EF6F-4E93-B83D-E75AFC03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4800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94729-F8C9-4E25-80AB-53A68375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0F51D-90DC-42C0-8E0C-D643A495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095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E6BD9-C650-4823-8BDE-42E1AC89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Host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0010C-7AC5-41A0-97F7-8BBDEF8A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Discovery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libusb bulk I/O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CLI argument handling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4C276-A6AC-4CDA-8289-AD3B64F0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3D8DFF"/>
                </a:solidFill>
                <a:latin typeface="Menlo"/>
                <a:ea typeface="Menlo"/>
                <a:cs typeface="Menlo"/>
              </a:rPr>
              <a:t>main.c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2DB36-B3D4-48AD-B5F2-2F99E773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2095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47"/>
          </a:solidFill>
          <a:ln xmlns:a="http://schemas.openxmlformats.org/drawingml/2006/main" w="9525">
            <a:solidFill>
              <a:srgbClr val="0C264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BEACC-542D-4759-9B45-838F286F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860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9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USB protocol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1B081-E955-437C-8258-9C6A9582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8610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1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16-byte header</a:t>
            </a:r>
          </a:p>
          <a:p xmlns:a="http://schemas.openxmlformats.org/drawingml/2006/main">
            <a:pPr algn="ctr">
              <a:def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sequence + opcode</a:t>
            </a:r>
          </a:p>
          <a:p xmlns:a="http://schemas.openxmlformats.org/drawingml/2006/main">
            <a:pPr algn="ctr">
              <a:def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≤512-byte payload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98B0C-BC83-48BC-8CAB-E4F44BA7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386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usb_protocol.c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C45D6-40F2-44BD-91C2-BEC12C1C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52625"/>
            <a:ext cx="2095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E6BCA-7410-4D65-8347-48EFB813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5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Adapter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379C2-8BBF-4F63-8409-C59E0D3F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mutex + status mapping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async event 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5422B-0DFF-4B88-A1C4-6AAC799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386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3D8DFF"/>
                </a:solidFill>
                <a:latin typeface="Menlo"/>
                <a:ea typeface="Menlo"/>
                <a:cs typeface="Menlo"/>
              </a:rPr>
              <a:t>adapter_service.c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30BD53-E35C-406B-9064-1AB37B76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095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8D64F-20BA-4DCB-AC74-98AB5A0D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1676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9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Bus engines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EEA96-6820-425B-8B55-D673F12D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1676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95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I2C1 master/slave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SMBus block write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MCTP transport + PEC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C97F0-481E-4D2A-8DD2-D7E63FFF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386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3D8DFF"/>
                </a:solidFill>
                <a:latin typeface="Menlo"/>
                <a:ea typeface="Menlo"/>
                <a:cs typeface="Menlo"/>
              </a:rPr>
              <a:t>i2c.c / mctp_smbus.c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1F940-CEF3-4475-8459-0A1573DB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FreeRTOS serializes shared I2C access; TinyUSB runs the vendor interface on endpoint 0x01 OUT / 0x81 IN.</a:t>
            </a:r>
          </a:p>
        </p:txBody>
      </p:sp>
    </p:spTree>
    <p:extLst>
      <p:ext uri="{BB962C8B-B14F-4D97-AF65-F5344CB8AC3E}">
        <p14:creationId xmlns:p14="http://schemas.microsoft.com/office/powerpoint/2010/main" val="17893600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FEA8E-99BE-49AB-BADE-29516E0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STM32F411 SMBUS / I2C USB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3686D-0206-4A71-8BDE-0E048390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current host deliverable is a CLI, not a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20A28-21B9-43C1-876A-6114F5B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D7267-3DCE-4AA0-8773-8A27A717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rPr>
              <a:t>CURRENT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7B92E-9DC9-4AD4-BC4F-0E7325D3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smbus-usb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4F985-93CD-4D5D-BA8E-D6D7018E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Mach-O ARM64 executable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Links to libusb-1.0.dylib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Auto-discovers the first free adapter</a:t>
            </a:r>
          </a:p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Implements every documented command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04F63-07DE-45C4-B312-1E13053D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240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59EDC-BF2E-4877-8BC4-699DC987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002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RECOMMENDED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A5C46-21C4-4BC3-8778-99CDBB04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libsmbus_usb.so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6702E-B490-4806-B67E-CFEC421C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0512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Move transport and API calls into a stable C ABI. Keep the CLI as a thin wrapper. Publish Linux .so, macOS .dylib, headers, versioning, and examples from one source tree.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6C47D-F8C6-4BE1-8CB5-2431C01E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958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Why this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9357B-7685-4577-BD84-8BF5983A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863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Direct integration from C/C++, Python ctypes, test frameworks, and manufacturing tools.</a:t>
            </a:r>
          </a:p>
        </p:txBody>
      </p:sp>
    </p:spTree>
    <p:extLst>
      <p:ext uri="{BB962C8B-B14F-4D97-AF65-F5344CB8AC3E}">
        <p14:creationId xmlns:p14="http://schemas.microsoft.com/office/powerpoint/2010/main" val="6931685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F181C-0E91-42AB-AC8F-34D2808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DE4E0-76B7-4D80-A648-8144B745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95625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54C0-66BC-485F-93FF-85512C6B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95625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D1991-3B45-4B36-9321-59C69787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95625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85622-1449-4F01-9F54-52855E15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A26BB-EDD6-4F67-9201-C6ECDADC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Applications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3EFF2-3FEF-4280-BF25-1B2DC2CA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847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 / C++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Python ctypes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CI and factory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EB2E0-0BCF-4604-921A-B17CE96D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47"/>
          </a:solidFill>
          <a:ln xmlns:a="http://schemas.openxmlformats.org/drawingml/2006/main" w="9525">
            <a:solidFill>
              <a:srgbClr val="0C26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A1077-C03E-4CFF-8630-C643E0CE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Shared library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CB184-3F6F-434A-BFB2-6996A433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71825"/>
            <a:ext cx="1847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open / close</a:t>
            </a:r>
          </a:p>
          <a:p xmlns:a="http://schemas.openxmlformats.org/drawingml/2006/main">
            <a:pPr algn="ctr">
              <a:def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detect / bitrate</a:t>
            </a:r>
          </a:p>
          <a:p xmlns:a="http://schemas.openxmlformats.org/drawingml/2006/main">
            <a:pPr algn="ctr">
              <a:def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read / write / MCTP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B830C-E17D-4524-B814-3AECBB1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B3F84-4C1C-4183-AE64-235A793B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libusb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6A910-3B3F-4053-B5DC-CF77E86E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71825"/>
            <a:ext cx="1847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VID/PID discovery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claim interface 0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bulk IN / 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189F7-20AD-482D-90F4-D5DE0E02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D5843-AC24-415D-9091-7EE51D78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7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STM32 firmware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2452B-0CA4-4A1F-963E-A91B7183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71825"/>
            <a:ext cx="1847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64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validate frame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dispatch opcode</a:t>
            </a:r>
          </a:p>
          <a:p xmlns:a="http://schemas.openxmlformats.org/drawingml/2006/main">
            <a:pPr algn="ctr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execute bus operation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4B2F4-4034-4072-9D75-EF607BA7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Design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244ED-0CE7-4956-840B-66261365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Opaque handle • explicit timeouts • thread-safe calls • versioned structs • transport status separated from I2C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1F3D7-56B5-4521-B5AE-26641B88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CCE9F9-587E-4229-B0BA-0A9BD8D0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STM32F411 SMBUS / I2C USB ADAPTER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C4FA2-D74F-4386-ADFB-03FC79EF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One ABI serves every host language</a:t>
            </a:r>
          </a:p>
        </p:txBody>
      </p:sp>
    </p:spTree>
    <p:extLst>
      <p:ext uri="{BB962C8B-B14F-4D97-AF65-F5344CB8AC3E}">
        <p14:creationId xmlns:p14="http://schemas.microsoft.com/office/powerpoint/2010/main" val="1753501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E2D83-D6D6-43FE-88B7-E763708A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STM32F411 SMBUS / I2C USB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9E45F-ABC1-4027-8A9E-A31EE2AE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One API spans every adapter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52875-8654-4249-829B-96351554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2F868-5E7F-46D2-9AB7-6FB6B4CF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DISCOVER &amp; CONFIGURE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831D2-6746-4ACD-905F-39E7B3BD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335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9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find_devices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i2c_detect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i2c_bitrate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D218D-934E-4AE1-96FA-B11524E1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enumerate • scan • 100/400 kHz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4C1A4-128E-4068-92CA-92C5EB7D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0291A-8700-410B-AB49-951DEC34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CONTROLLER I/O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983BE-B085-4C78-97FD-ED58EBC0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384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9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i2c_write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i2c_write_ext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i2c_read_ext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1C48D-ADC5-409B-B699-43F6B19F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0–507 B write • 1–509 B 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B8F97-4792-4F7F-B0EA-1013A0B5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8D28F-E040-4A0E-B568-DA4F6E0D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ADDRESSED SLAVE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0606B-DC79-4E54-868A-8CE40DAB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432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9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i2c_slave_enable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async_poll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i2c_slave_read_ext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C5278-28CE-40E7-B055-9D53CF1B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256 B TX • 258 B RX • FIFO depth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81E46-51FF-443A-BA85-FF6CECE4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85401-BDF3-448A-9A87-4A7FC125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rPr>
              <a:t>SMBUS &amp; MCTP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8FAFD-445F-4D8B-8799-37C1ED8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9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smbus_read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smbus_write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mctp_send_receive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5A474-A43F-4020-987F-58CFE804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1–32 B SMBus • 4–256 B MCTP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729ECA-B589-4462-A298-935B16FE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6941E-95DE-4EED-B4A4-251F5DB2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USB DIAGNOSTICS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9831C-457F-4AA7-A3B3-789FE1E2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530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01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ping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info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echo</a:t>
            </a:r>
          </a:p>
          <a:p xmlns:a="http://schemas.openxmlformats.org/drawingml/2006/main">
            <a:pPr algn="l">
              <a:defRPr sz="1350" b="1">
                <a:solidFill>
                  <a:srgbClr val="0B0D1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B0D10"/>
                </a:solidFill>
                <a:latin typeface="Menlo"/>
                <a:ea typeface="Menlo"/>
                <a:cs typeface="Menlo"/>
              </a:rPr>
              <a:t>selftest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3CF90-2B38-4188-8A73-78950EAA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91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framing tests through 512-byte payload</a:t>
            </a:r>
          </a:p>
        </p:txBody>
      </p:sp>
    </p:spTree>
    <p:extLst>
      <p:ext uri="{BB962C8B-B14F-4D97-AF65-F5344CB8AC3E}">
        <p14:creationId xmlns:p14="http://schemas.microsoft.com/office/powerpoint/2010/main" val="21082523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7E0E5-BE11-4A65-A02A-D8007B94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C34DA-5DCD-4E39-80B5-0207C8EE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567CE-5407-47F0-BA09-82067971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8B344-BEE0-408B-BA5E-C30F97E8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1EB6D-375B-4589-B7F2-82062B1E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SMBA magic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version + opcode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sequence + length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0B54A-9E54-48A4-A8DA-D71FFB1D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956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ED0CC-D49C-48C3-B6F0-5606B4E3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288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TRANSFER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B206C-EC7C-45E6-B5DB-C3116D41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67125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Bulk OUT 0x01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USB packets are not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message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D771A-7B32-438E-ACD3-E8EFA257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56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6EA84-0F75-4CCE-BEE1-100CF97E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EXECUTE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BB1CD-0F20-4722-813C-D7F34D42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7125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Validate request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lock I2C1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run selected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0D4FD-2BFC-4112-B678-80BA83BE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solidFill>
              <a:srgbClr val="0B0D1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CC80F-E568-4C61-89AC-38D11A71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RETURN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E80F8-FE14-429B-B7B0-B9DC58E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67125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Bulk IN 0x81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repeat opcode + sequence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status + payload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E633B-D2BF-4E2F-83A7-336AD20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16-byte header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6266A-761B-40B6-BDA3-FBBA38E0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Maximum protocol payload: 512 bytes • multi-byte fields: little-endian • detailed I2C status lives inside extended-response payloads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D853F-73D2-463D-89AB-F8069BC4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9F3732-F043-42B8-BB9C-9C235C09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STM32F411 SMBUS / I2C USB ADAPTER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C005DB-AB07-4F8B-BFD7-937A6E54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One path handles every operation</a:t>
            </a:r>
          </a:p>
        </p:txBody>
      </p:sp>
    </p:spTree>
    <p:extLst>
      <p:ext uri="{BB962C8B-B14F-4D97-AF65-F5344CB8AC3E}">
        <p14:creationId xmlns:p14="http://schemas.microsoft.com/office/powerpoint/2010/main" val="9932407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25B33-6092-411A-B13F-C82349AF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STM32F411 SMBUS / I2C USB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60A4F-65F4-4A1D-B11E-46FF7183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One adapter supports six practical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6FE0B-9233-4AA9-9A72-C6860B18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80E95-C878-4E05-9012-6E96368A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Board bring-up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EA8C9-FCE5-4C6C-B60E-40777D31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Scan a new board, confirm pull-ups and addressing, then perform basic reads and writes.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51D4C-BBF6-4D6B-A1BC-F089C386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668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Sensor / EEPROM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F94EF-B567-4001-B442-175804CC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3837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Exercise register maps, configuration bytes, and data acquisition from scripts or test tools.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C9A39-6627-4AA2-B05A-8690FB6B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668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Slave emulation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99658-066A-4523-8FFB-CB314224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3837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Receive controller writes at a chosen address and validate firmware behavior against an emulated endpoint.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FC7B5-001F-4214-91AE-8AD778B3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81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Automated production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BE36A-76D0-4F98-A7A3-5BF2C906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Embed the shared library in fixtures for deterministic device discovery and pass/fail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A994D-24BA-48A6-A114-E92676EF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14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MCTP endpoint debug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DDC4A-A400-4B05-9DE7-CC2B2087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862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Send request packets over SMBus, validate PEC, and inspect the complete returned transport packet.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E8EC4-F1A5-47E5-AB6F-9DA757A9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14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USB transport diagnosis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975FC8-F1A6-4FDC-9C72-BBB328C0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862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Use ping, info, echo, and selftest to isolate USB framing from external bus problems.</a:t>
            </a:r>
          </a:p>
        </p:txBody>
      </p:sp>
    </p:spTree>
    <p:extLst>
      <p:ext uri="{BB962C8B-B14F-4D97-AF65-F5344CB8AC3E}">
        <p14:creationId xmlns:p14="http://schemas.microsoft.com/office/powerpoint/2010/main" val="17023419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FF24E-9E91-4D35-9124-C32C2C57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STM32F411 SMBUS / I2C USB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2E575-30B4-4305-B9E4-B8C40E55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Five commands prove host-to-bus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B9B65-07F2-4CEE-8CF1-26CD0338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8A260-3503-4FF4-B51C-07BE3F4B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72390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47"/>
          </a:solidFill>
          <a:ln xmlns:a="http://schemas.openxmlformats.org/drawingml/2006/main" w="0">
            <a:solidFill>
              <a:srgbClr val="0C26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4A79B-6CCE-4F00-BD89-2C8AC984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6819900" cy="399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Build the host client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make host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Prove USB framing and discover targets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./host/usb_client/smbus-usb ping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./host/usb_client/smbus-usb i2c_detect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Select fast mode and exercise address 0x50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./host/usb_client/smbus-usb i2c_bitrate 400000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./host/usb_client/smbus-usb i2c_write_ext 0x50 0 0x00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./host/usb_client/smbus-usb i2c_read_ext 0x50 0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3DFA5-3087-48B2-9F92-4A9ABF82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Expected checkpoints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127D8-221D-43D6-B5D0-96C8D188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rPr>
              <a:t>PONG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C18B2-0E62-4327-AEE9-8204FA7B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USB framing is alive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94F7E-C8D3-4C9F-AE96-7C271B5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0x50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D284D-6879-4BBA-A3F3-0EF8720F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Target acknowledged during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0AE48-638C-4B8A-A8A3-ADE10055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F8B6D"/>
                </a:solidFill>
                <a:latin typeface="Helvetica Neue"/>
                <a:ea typeface="Helvetica Neue"/>
                <a:cs typeface="Helvetica Neue"/>
              </a:rPr>
              <a:t>status=0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C449D-E60B-49DA-BC05-41D9C617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863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Extended transaction succeeded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7A2AB-1395-4976-8DB8-92A8F231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63C35"/>
                </a:solidFill>
                <a:latin typeface="Helvetica Neue"/>
                <a:ea typeface="Helvetica Neue"/>
                <a:cs typeface="Helvetica Neue"/>
              </a:rPr>
              <a:t>Register semantics depend on the connected target; use its datasheet for the command sequence.</a:t>
            </a:r>
          </a:p>
        </p:txBody>
      </p:sp>
    </p:spTree>
    <p:extLst>
      <p:ext uri="{BB962C8B-B14F-4D97-AF65-F5344CB8AC3E}">
        <p14:creationId xmlns:p14="http://schemas.microsoft.com/office/powerpoint/2010/main" val="16579042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5C75E-B0E2-415E-84A4-CF024072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STM32F411 SMBUS / I2C USB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8FE99-ADF9-4615-ACD0-C4448134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proposed library keeps application code compact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F06E7-A554-41BB-8D46-F8E0BE66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A8706-D980-4059-A93B-89F6ADD3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A00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3A008"/>
                </a:solidFill>
                <a:latin typeface="Helvetica Neue"/>
                <a:ea typeface="Helvetica Neue"/>
                <a:cs typeface="Helvetica Neue"/>
              </a:rPr>
              <a:t>PROPOSED ABI — illustrative until the .so and header are added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94510-C0A1-4EE2-AB73-011CFF0F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7429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647"/>
          </a:solidFill>
          <a:ln xmlns:a="http://schemas.openxmlformats.org/drawingml/2006/main" w="0">
            <a:solidFill>
              <a:srgbClr val="0C26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61BDE-97BE-4957-9006-DF91FE28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70104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smbus_handle_t *adapter = NULL;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uint8_t ports[8];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uint8_t rx[16];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size_t count = smbus_find_devices(ports, 8);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if (count &gt; 0 &amp;&amp; smbus_open(ports[0], &amp;adapter) == SMBUS_OK) {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smbus_i2c_bitrate(adapter, 400000);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smbus_i2c_write_ext(adapter, 0x50, 0, tx, tx_len, &amp;written);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smbus_i2c_read_ext(adapter, 0x50, 0, rx, sizeof(rx), &amp;read);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smbus_close(adapter);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DF386-9745-4BB4-9213-0336FB1D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ABI expectations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77C9B-405F-44A3-A55D-94D8B3F3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• Opaque adapter handle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• Explicit buffer lengths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• Separate USB and I2C results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• No global mutable state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• Stable symbol versioning</a:t>
            </a:r>
          </a:p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• Linux .so + macOS .dylib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E85AB-24B1-4F47-B819-5D4F36E7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2387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63C35"/>
                </a:solidFill>
                <a:latin typeface="Helvetica Neue"/>
                <a:ea typeface="Helvetica Neue"/>
                <a:cs typeface="Helvetica Neue"/>
              </a:rPr>
              <a:t>Names shown here are a design recommendation, not verified exports from a supplied binary.</a:t>
            </a:r>
          </a:p>
        </p:txBody>
      </p:sp>
    </p:spTree>
    <p:extLst>
      <p:ext uri="{BB962C8B-B14F-4D97-AF65-F5344CB8AC3E}">
        <p14:creationId xmlns:p14="http://schemas.microsoft.com/office/powerpoint/2010/main" val="133182580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D9A2B-70A6-4EEC-A4BC-6AD87C09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3B1E9-C0E7-4166-A87C-5BE2D464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28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Package the proven transport as a supported host SDK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EE341-90DD-4AA1-8620-EBB03373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  Extract transport + commands into libsmbus_usb</a:t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2  Publish header, .so / .dylib, examples, and ABI tests</a:t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  Replace development VID/PID and document platform permissions</a:t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4  Add CI hardware tests for 100/400 kHz, NACK, timeout, slave FIFO, and MCTP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8A734-BEB3-46D4-90A0-B7197FFA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3C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63C35"/>
                </a:solidFill>
                <a:latin typeface="Helvetica Neue"/>
                <a:ea typeface="Helvetica Neue"/>
                <a:cs typeface="Helvetica Neue"/>
              </a:rPr>
              <a:t>Current engineering risks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1D73F-20D5-47C6-BE26-BE448364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67375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No shared library in folder • development VID/PID • only 7-bit / no-flags operations • slave read data fixed to 0xFF until a response API is added</a:t>
            </a:r>
          </a:p>
        </p:txBody>
      </p:sp>
    </p:spTree>
    <p:extLst>
      <p:ext uri="{BB962C8B-B14F-4D97-AF65-F5344CB8AC3E}">
        <p14:creationId xmlns:p14="http://schemas.microsoft.com/office/powerpoint/2010/main" val="1589152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2026-08-15T05:49:52.4540000Z</dcterms:created>
  <dcterms:modified xsi:type="dcterms:W3CDTF">2026-08-15T05:49:52.4540000Z</dcterms:modified>
</coreProperties>
</file>